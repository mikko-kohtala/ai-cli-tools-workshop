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8A5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14800" y="1117699"/>
            <a:ext cx="914400" cy="914400"/>
          </a:xfrm>
          <a:prstGeom prst="roundRect">
            <a:avLst>
              <a:gd name="adj" fmla="val 19444"/>
            </a:avLst>
          </a:prstGeom>
          <a:solidFill>
            <a:srgbClr val="E8A5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29100" y="1312962"/>
            <a:ext cx="69951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75916" y="2286000"/>
            <a:ext cx="4792019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Learning Path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759818" y="3051125"/>
            <a:ext cx="562436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800"/>
              </a:spcAft>
              <a:buNone/>
            </a:pPr>
            <a:r>
              <a:rPr lang="en-US" sz="2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Test Automation &amp; Quality Assurance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17105" y="3701951"/>
            <a:ext cx="1018580" cy="323850"/>
          </a:xfrm>
          <a:prstGeom prst="roundRect">
            <a:avLst>
              <a:gd name="adj" fmla="val 19608"/>
            </a:avLst>
          </a:prstGeom>
          <a:solidFill>
            <a:srgbClr val="FFFFFF"/>
          </a:solidFill>
          <a:ln w="9525">
            <a:solidFill>
              <a:srgbClr val="E8A54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04331" y="3787676"/>
            <a:ext cx="6570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62635" y="3701951"/>
            <a:ext cx="886569" cy="323850"/>
          </a:xfrm>
          <a:prstGeom prst="roundRect">
            <a:avLst>
              <a:gd name="adj" fmla="val 19608"/>
            </a:avLst>
          </a:prstGeom>
          <a:solidFill>
            <a:srgbClr val="FFFFFF"/>
          </a:solidFill>
          <a:ln w="9525">
            <a:solidFill>
              <a:srgbClr val="E8A54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49861" y="3787676"/>
            <a:ext cx="5223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Cypress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76155" y="3701951"/>
            <a:ext cx="1189583" cy="323850"/>
          </a:xfrm>
          <a:prstGeom prst="roundRect">
            <a:avLst>
              <a:gd name="adj" fmla="val 19608"/>
            </a:avLst>
          </a:prstGeom>
          <a:solidFill>
            <a:srgbClr val="FFFFFF"/>
          </a:solidFill>
          <a:ln w="9525">
            <a:solidFill>
              <a:srgbClr val="E8A54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63380" y="3787676"/>
            <a:ext cx="8314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92688" y="3701951"/>
            <a:ext cx="1034207" cy="323850"/>
          </a:xfrm>
          <a:prstGeom prst="roundRect">
            <a:avLst>
              <a:gd name="adj" fmla="val 19608"/>
            </a:avLst>
          </a:prstGeom>
          <a:solidFill>
            <a:srgbClr val="FFFFFF"/>
          </a:solidFill>
          <a:ln w="9525">
            <a:solidFill>
              <a:srgbClr val="E8A54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79914" y="3787676"/>
            <a:ext cx="672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CLI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47472" y="4746724"/>
            <a:ext cx="20489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8-Week Comprehensive Curriculum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8726"/>
          </a:xfrm>
          <a:prstGeom prst="rect">
            <a:avLst/>
          </a:prstGeom>
          <a:solidFill>
            <a:srgbClr val="E8A5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03150"/>
            <a:ext cx="849802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8-Week Program Structure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61876"/>
            <a:ext cx="4064198" cy="577751"/>
          </a:xfrm>
          <a:prstGeom prst="roundRect">
            <a:avLst>
              <a:gd name="adj" fmla="val 13189"/>
            </a:avLst>
          </a:prstGeom>
          <a:solidFill>
            <a:srgbClr val="F5F9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25351" y="961876"/>
            <a:ext cx="0" cy="577751"/>
          </a:xfrm>
          <a:prstGeom prst="line">
            <a:avLst/>
          </a:prstGeom>
          <a:noFill/>
          <a:ln w="38100">
            <a:solidFill>
              <a:srgbClr val="7C98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2102" y="1088827"/>
            <a:ext cx="37441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1: Foundations &amp; Mindset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2102" y="1279327"/>
            <a:ext cx="37441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LLMs, agentic vs chat, tool setup, CLAUDE.md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6301" y="1641128"/>
            <a:ext cx="4064198" cy="577751"/>
          </a:xfrm>
          <a:prstGeom prst="roundRect">
            <a:avLst>
              <a:gd name="adj" fmla="val 13189"/>
            </a:avLst>
          </a:prstGeom>
          <a:solidFill>
            <a:srgbClr val="F5F9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25351" y="1641128"/>
            <a:ext cx="0" cy="577751"/>
          </a:xfrm>
          <a:prstGeom prst="line">
            <a:avLst/>
          </a:prstGeom>
          <a:noFill/>
          <a:ln w="38100">
            <a:solidFill>
              <a:srgbClr val="7C98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2102" y="1768078"/>
            <a:ext cx="37441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2: Planning &amp; Agentic Patterns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2102" y="1958578"/>
            <a:ext cx="37441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Workflows, ReAct pattern, planning mode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06301" y="2320379"/>
            <a:ext cx="4064198" cy="577751"/>
          </a:xfrm>
          <a:prstGeom prst="roundRect">
            <a:avLst>
              <a:gd name="adj" fmla="val 131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25351" y="2320379"/>
            <a:ext cx="0" cy="577751"/>
          </a:xfrm>
          <a:prstGeom prst="line">
            <a:avLst/>
          </a:prstGeom>
          <a:noFill/>
          <a:ln w="38100">
            <a:solidFill>
              <a:srgbClr val="E8A5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102" y="2447330"/>
            <a:ext cx="37441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3: Test Automation Fundamentals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2102" y="2637830"/>
            <a:ext cx="37441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generation, coverage analysis, test data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6301" y="2999631"/>
            <a:ext cx="4064198" cy="577751"/>
          </a:xfrm>
          <a:prstGeom prst="roundRect">
            <a:avLst>
              <a:gd name="adj" fmla="val 131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25351" y="2999631"/>
            <a:ext cx="0" cy="577751"/>
          </a:xfrm>
          <a:prstGeom prst="line">
            <a:avLst/>
          </a:prstGeom>
          <a:noFill/>
          <a:ln w="38100">
            <a:solidFill>
              <a:srgbClr val="E8A5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102" y="3126581"/>
            <a:ext cx="37441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4: Core QA Workflows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2102" y="3317081"/>
            <a:ext cx="37441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Regression, API testing, performance, bug docs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73650" y="961876"/>
            <a:ext cx="4064198" cy="577751"/>
          </a:xfrm>
          <a:prstGeom prst="roundRect">
            <a:avLst>
              <a:gd name="adj" fmla="val 131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92700" y="961876"/>
            <a:ext cx="0" cy="577751"/>
          </a:xfrm>
          <a:prstGeom prst="line">
            <a:avLst/>
          </a:prstGeom>
          <a:noFill/>
          <a:ln w="38100">
            <a:solidFill>
              <a:srgbClr val="E8A5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9450" y="1088827"/>
            <a:ext cx="37441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5: Advanced Testing Techniques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89450" y="1279327"/>
            <a:ext cx="37441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orchestration, visual regression, flaky tests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73650" y="1641128"/>
            <a:ext cx="4064198" cy="577751"/>
          </a:xfrm>
          <a:prstGeom prst="roundRect">
            <a:avLst>
              <a:gd name="adj" fmla="val 131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92700" y="1641128"/>
            <a:ext cx="0" cy="577751"/>
          </a:xfrm>
          <a:prstGeom prst="line">
            <a:avLst/>
          </a:prstGeom>
          <a:noFill/>
          <a:ln w="38100">
            <a:solidFill>
              <a:srgbClr val="E8A5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9450" y="1768078"/>
            <a:ext cx="37441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6: QA Integration &amp; Collaboration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89450" y="1958578"/>
            <a:ext cx="37441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integration, metrics, team practices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73650" y="2320379"/>
            <a:ext cx="4064198" cy="577751"/>
          </a:xfrm>
          <a:prstGeom prst="roundRect">
            <a:avLst>
              <a:gd name="adj" fmla="val 13189"/>
            </a:avLst>
          </a:prstGeom>
          <a:solidFill>
            <a:srgbClr val="F5F9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92700" y="2320379"/>
            <a:ext cx="0" cy="577751"/>
          </a:xfrm>
          <a:prstGeom prst="line">
            <a:avLst/>
          </a:prstGeom>
          <a:noFill/>
          <a:ln w="38100">
            <a:solidFill>
              <a:srgbClr val="7C988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9450" y="2447330"/>
            <a:ext cx="37441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7: Building Agents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89450" y="2637830"/>
            <a:ext cx="37441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Agent SDK, custom tools, multi-agent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73650" y="2999631"/>
            <a:ext cx="4064198" cy="577751"/>
          </a:xfrm>
          <a:prstGeom prst="roundRect">
            <a:avLst>
              <a:gd name="adj" fmla="val 13189"/>
            </a:avLst>
          </a:prstGeom>
          <a:solidFill>
            <a:srgbClr val="F5F9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692700" y="2999631"/>
            <a:ext cx="0" cy="577751"/>
          </a:xfrm>
          <a:prstGeom prst="line">
            <a:avLst/>
          </a:prstGeom>
          <a:noFill/>
          <a:ln w="38100">
            <a:solidFill>
              <a:srgbClr val="7C988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89450" y="3126581"/>
            <a:ext cx="37441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8: Capstone &amp; Deploy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89450" y="3317081"/>
            <a:ext cx="37441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DevOps, governance, capstone project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73650" y="3780383"/>
            <a:ext cx="4064198" cy="590550"/>
          </a:xfrm>
          <a:prstGeom prst="roundRect">
            <a:avLst>
              <a:gd name="adj" fmla="val 12903"/>
            </a:avLst>
          </a:prstGeom>
          <a:solidFill>
            <a:srgbClr val="E8A5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788456" y="3932783"/>
            <a:ext cx="383458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Ship higher quality software with AI-assisted testing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9252"/>
          </a:xfrm>
          <a:prstGeom prst="rect">
            <a:avLst/>
          </a:prstGeom>
          <a:solidFill>
            <a:srgbClr val="7C98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00025"/>
            <a:ext cx="789384" cy="279202"/>
          </a:xfrm>
          <a:prstGeom prst="roundRect">
            <a:avLst>
              <a:gd name="adj" fmla="val 181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251" y="263426"/>
            <a:ext cx="5461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9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3386" y="177701"/>
            <a:ext cx="315009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 &amp; Mindset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058299" y="234851"/>
            <a:ext cx="679400" cy="209550"/>
          </a:xfrm>
          <a:prstGeom prst="roundRect">
            <a:avLst>
              <a:gd name="adj" fmla="val 18182"/>
            </a:avLst>
          </a:prstGeom>
          <a:solidFill>
            <a:srgbClr val="5A7A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59800" y="272951"/>
            <a:ext cx="4859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6301" y="882402"/>
            <a:ext cx="3683050" cy="1685181"/>
          </a:xfrm>
          <a:prstGeom prst="roundRect">
            <a:avLst>
              <a:gd name="adj" fmla="val 452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4002" y="1060103"/>
            <a:ext cx="33942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4002" y="1358503"/>
            <a:ext cx="3327648" cy="96797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what LLMs are and are not good at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agentic vs simple chat differences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and configure Claude Code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CLAUDE.md project configuration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approval modes and sandboxing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6301" y="2719983"/>
            <a:ext cx="3683050" cy="625376"/>
          </a:xfrm>
          <a:prstGeom prst="roundRect">
            <a:avLst>
              <a:gd name="adj" fmla="val 12185"/>
            </a:avLst>
          </a:prstGeom>
          <a:solidFill>
            <a:srgbClr val="7C98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84002" y="2846933"/>
            <a:ext cx="33942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4002" y="3075533"/>
            <a:ext cx="33942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17950" y="882402"/>
            <a:ext cx="2159050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317950" y="891927"/>
            <a:ext cx="2159050" cy="0"/>
          </a:xfrm>
          <a:prstGeom prst="line">
            <a:avLst/>
          </a:prstGeom>
          <a:noFill/>
          <a:ln w="19050">
            <a:solidFill>
              <a:srgbClr val="7C98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4901" y="1002953"/>
            <a:ext cx="1943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C9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44901" y="1174403"/>
            <a:ext cx="1943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LLMs?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44901" y="1355378"/>
            <a:ext cx="19432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Tokens, context windows, capabilities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78501" y="882402"/>
            <a:ext cx="2159198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578501" y="891927"/>
            <a:ext cx="2159198" cy="0"/>
          </a:xfrm>
          <a:prstGeom prst="line">
            <a:avLst/>
          </a:prstGeom>
          <a:noFill/>
          <a:ln w="19050">
            <a:solidFill>
              <a:srgbClr val="7C98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5451" y="1002953"/>
            <a:ext cx="19434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C9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05451" y="1174403"/>
            <a:ext cx="19434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vs Chat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05451" y="1355378"/>
            <a:ext cx="19434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Tool-using systems vs simple chat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317950" y="1672679"/>
            <a:ext cx="2159050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317950" y="1682204"/>
            <a:ext cx="2159050" cy="0"/>
          </a:xfrm>
          <a:prstGeom prst="line">
            <a:avLst/>
          </a:prstGeom>
          <a:noFill/>
          <a:ln w="19050">
            <a:solidFill>
              <a:srgbClr val="7C98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44901" y="1793230"/>
            <a:ext cx="1943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C9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44901" y="1964680"/>
            <a:ext cx="1943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Setup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44901" y="2145655"/>
            <a:ext cx="19432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and configure Claude Code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578501" y="1672679"/>
            <a:ext cx="2159198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578501" y="1682204"/>
            <a:ext cx="2159198" cy="0"/>
          </a:xfrm>
          <a:prstGeom prst="line">
            <a:avLst/>
          </a:prstGeom>
          <a:noFill/>
          <a:ln w="19050">
            <a:solidFill>
              <a:srgbClr val="7C98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05451" y="1793230"/>
            <a:ext cx="19434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C9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05451" y="1964680"/>
            <a:ext cx="19434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Configuration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05451" y="2145655"/>
            <a:ext cx="19434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and project context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317950" y="2564457"/>
            <a:ext cx="4419749" cy="558701"/>
          </a:xfrm>
          <a:prstGeom prst="roundRect">
            <a:avLst>
              <a:gd name="adj" fmla="val 11366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444901" y="2691408"/>
            <a:ext cx="42491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444901" y="2862858"/>
            <a:ext cx="42491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environment configured with initial project setup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9252"/>
          </a:xfrm>
          <a:prstGeom prst="rect">
            <a:avLst/>
          </a:prstGeom>
          <a:solidFill>
            <a:srgbClr val="7C98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00025"/>
            <a:ext cx="789384" cy="279202"/>
          </a:xfrm>
          <a:prstGeom prst="roundRect">
            <a:avLst>
              <a:gd name="adj" fmla="val 181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251" y="263426"/>
            <a:ext cx="5461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9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3386" y="177701"/>
            <a:ext cx="382107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&amp; Agentic Patterns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058299" y="234851"/>
            <a:ext cx="679400" cy="209550"/>
          </a:xfrm>
          <a:prstGeom prst="roundRect">
            <a:avLst>
              <a:gd name="adj" fmla="val 18182"/>
            </a:avLst>
          </a:prstGeom>
          <a:solidFill>
            <a:srgbClr val="5A7A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59800" y="272951"/>
            <a:ext cx="4859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6301" y="882402"/>
            <a:ext cx="3683050" cy="1685181"/>
          </a:xfrm>
          <a:prstGeom prst="roundRect">
            <a:avLst>
              <a:gd name="adj" fmla="val 452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4002" y="1060103"/>
            <a:ext cx="33942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4002" y="1358503"/>
            <a:ext cx="3327648" cy="96797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workflows vs autonomous agents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5 core agentic workflow patterns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Claude Code's planning mode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ReAct: reasoning before acting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core project architecture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6301" y="2719983"/>
            <a:ext cx="3683050" cy="625376"/>
          </a:xfrm>
          <a:prstGeom prst="roundRect">
            <a:avLst>
              <a:gd name="adj" fmla="val 12185"/>
            </a:avLst>
          </a:prstGeom>
          <a:solidFill>
            <a:srgbClr val="7C98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84002" y="2846933"/>
            <a:ext cx="33942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4002" y="3075533"/>
            <a:ext cx="33942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17950" y="882402"/>
            <a:ext cx="2159050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317950" y="891927"/>
            <a:ext cx="2159050" cy="0"/>
          </a:xfrm>
          <a:prstGeom prst="line">
            <a:avLst/>
          </a:prstGeom>
          <a:noFill/>
          <a:ln w="19050">
            <a:solidFill>
              <a:srgbClr val="7C98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4901" y="1002953"/>
            <a:ext cx="1943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C9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44901" y="1174403"/>
            <a:ext cx="1943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 vs Agents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44901" y="1355378"/>
            <a:ext cx="19432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vs autonomous behavior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78501" y="882402"/>
            <a:ext cx="2159198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578501" y="891927"/>
            <a:ext cx="2159198" cy="0"/>
          </a:xfrm>
          <a:prstGeom prst="line">
            <a:avLst/>
          </a:prstGeom>
          <a:noFill/>
          <a:ln w="19050">
            <a:solidFill>
              <a:srgbClr val="7C98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5451" y="1002953"/>
            <a:ext cx="19434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C9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05451" y="1174403"/>
            <a:ext cx="19434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Patterns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05451" y="1355378"/>
            <a:ext cx="19434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Chaining, routing, parallelization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317950" y="1672679"/>
            <a:ext cx="2159050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317950" y="1682204"/>
            <a:ext cx="2159050" cy="0"/>
          </a:xfrm>
          <a:prstGeom prst="line">
            <a:avLst/>
          </a:prstGeom>
          <a:noFill/>
          <a:ln w="19050">
            <a:solidFill>
              <a:srgbClr val="7C98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44901" y="1793230"/>
            <a:ext cx="1943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C9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44901" y="1964680"/>
            <a:ext cx="1943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Mode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44901" y="2145655"/>
            <a:ext cx="19432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Shift+Tab for complex tasks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578501" y="1672679"/>
            <a:ext cx="2159198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578501" y="1682204"/>
            <a:ext cx="2159198" cy="0"/>
          </a:xfrm>
          <a:prstGeom prst="line">
            <a:avLst/>
          </a:prstGeom>
          <a:noFill/>
          <a:ln w="19050">
            <a:solidFill>
              <a:srgbClr val="7C98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05451" y="1793230"/>
            <a:ext cx="19434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C9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05451" y="1964680"/>
            <a:ext cx="19434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Pattern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05451" y="2145655"/>
            <a:ext cx="19434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and acting cycles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317950" y="2564457"/>
            <a:ext cx="4419749" cy="558701"/>
          </a:xfrm>
          <a:prstGeom prst="roundRect">
            <a:avLst>
              <a:gd name="adj" fmla="val 11366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444901" y="2691408"/>
            <a:ext cx="42491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444901" y="2862858"/>
            <a:ext cx="42491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project scaffolded with architecture decisions documented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9252"/>
          </a:xfrm>
          <a:prstGeom prst="rect">
            <a:avLst/>
          </a:prstGeom>
          <a:solidFill>
            <a:srgbClr val="E8A5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00025"/>
            <a:ext cx="789384" cy="279202"/>
          </a:xfrm>
          <a:prstGeom prst="roundRect">
            <a:avLst>
              <a:gd name="adj" fmla="val 181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251" y="263426"/>
            <a:ext cx="5461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3386" y="177701"/>
            <a:ext cx="422715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Fundamentals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06301" y="882402"/>
            <a:ext cx="3683050" cy="1478905"/>
          </a:xfrm>
          <a:prstGeom prst="roundRect">
            <a:avLst>
              <a:gd name="adj" fmla="val 51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002" y="1060103"/>
            <a:ext cx="33942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4002" y="1358503"/>
            <a:ext cx="3327648" cy="76170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test generation patterns with AI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AI-assisted test writing workflows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coverage and identify gaps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effective test data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6301" y="2513707"/>
            <a:ext cx="3683050" cy="625376"/>
          </a:xfrm>
          <a:prstGeom prst="roundRect">
            <a:avLst>
              <a:gd name="adj" fmla="val 12185"/>
            </a:avLst>
          </a:prstGeom>
          <a:solidFill>
            <a:srgbClr val="E8A5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84002" y="2640657"/>
            <a:ext cx="33942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002" y="2869257"/>
            <a:ext cx="33942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Playwright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17950" y="882402"/>
            <a:ext cx="2159050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317950" y="891927"/>
            <a:ext cx="2159050" cy="0"/>
          </a:xfrm>
          <a:prstGeom prst="line">
            <a:avLst/>
          </a:prstGeom>
          <a:noFill/>
          <a:ln w="19050">
            <a:solidFill>
              <a:srgbClr val="E8A5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4901" y="1002953"/>
            <a:ext cx="1943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44901" y="1174403"/>
            <a:ext cx="1943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Generation Patterns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44901" y="1355378"/>
            <a:ext cx="19432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test creation workflows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78501" y="882402"/>
            <a:ext cx="2159198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578501" y="891927"/>
            <a:ext cx="2159198" cy="0"/>
          </a:xfrm>
          <a:prstGeom prst="line">
            <a:avLst/>
          </a:prstGeom>
          <a:noFill/>
          <a:ln w="19050">
            <a:solidFill>
              <a:srgbClr val="E8A5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5451" y="1002953"/>
            <a:ext cx="19434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05451" y="1174403"/>
            <a:ext cx="19434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Writing Workflows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05451" y="1355378"/>
            <a:ext cx="19434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test authoring with AI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17950" y="1672679"/>
            <a:ext cx="2159050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317950" y="1682204"/>
            <a:ext cx="2159050" cy="0"/>
          </a:xfrm>
          <a:prstGeom prst="line">
            <a:avLst/>
          </a:prstGeom>
          <a:noFill/>
          <a:ln w="19050">
            <a:solidFill>
              <a:srgbClr val="E8A5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44901" y="1793230"/>
            <a:ext cx="1943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44901" y="1964680"/>
            <a:ext cx="1943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Analysis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44901" y="2145655"/>
            <a:ext cx="19432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and filling test gaps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578501" y="1672679"/>
            <a:ext cx="2159198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578501" y="1682204"/>
            <a:ext cx="2159198" cy="0"/>
          </a:xfrm>
          <a:prstGeom prst="line">
            <a:avLst/>
          </a:prstGeom>
          <a:noFill/>
          <a:ln w="19050">
            <a:solidFill>
              <a:srgbClr val="E8A5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05451" y="1793230"/>
            <a:ext cx="19434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05451" y="1964680"/>
            <a:ext cx="19434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 Generation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05451" y="2145655"/>
            <a:ext cx="19434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realistic test data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317950" y="2564457"/>
            <a:ext cx="4419749" cy="558701"/>
          </a:xfrm>
          <a:prstGeom prst="roundRect">
            <a:avLst>
              <a:gd name="adj" fmla="val 11366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444901" y="2691408"/>
            <a:ext cx="42491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44901" y="2862858"/>
            <a:ext cx="42491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test suite with AI-generated tests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9252"/>
          </a:xfrm>
          <a:prstGeom prst="rect">
            <a:avLst/>
          </a:prstGeom>
          <a:solidFill>
            <a:srgbClr val="E8A5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00025"/>
            <a:ext cx="789384" cy="279202"/>
          </a:xfrm>
          <a:prstGeom prst="roundRect">
            <a:avLst>
              <a:gd name="adj" fmla="val 181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251" y="263426"/>
            <a:ext cx="5461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3386" y="177701"/>
            <a:ext cx="265992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QA Workflows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06301" y="882402"/>
            <a:ext cx="3683050" cy="1478905"/>
          </a:xfrm>
          <a:prstGeom prst="roundRect">
            <a:avLst>
              <a:gd name="adj" fmla="val 51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002" y="1060103"/>
            <a:ext cx="33942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4002" y="1358503"/>
            <a:ext cx="3327648" cy="76170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regression test suites with AI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API testing with AI assistance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performance with AI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bugs systematically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6301" y="2513707"/>
            <a:ext cx="3683050" cy="625376"/>
          </a:xfrm>
          <a:prstGeom prst="roundRect">
            <a:avLst>
              <a:gd name="adj" fmla="val 12185"/>
            </a:avLst>
          </a:prstGeom>
          <a:solidFill>
            <a:srgbClr val="E8A5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84002" y="2640657"/>
            <a:ext cx="33942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002" y="2869257"/>
            <a:ext cx="33942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Playwright, Cypress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17950" y="882402"/>
            <a:ext cx="2159050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317950" y="891927"/>
            <a:ext cx="2159050" cy="0"/>
          </a:xfrm>
          <a:prstGeom prst="line">
            <a:avLst/>
          </a:prstGeom>
          <a:noFill/>
          <a:ln w="19050">
            <a:solidFill>
              <a:srgbClr val="E8A5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4901" y="1002953"/>
            <a:ext cx="1943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44901" y="1174403"/>
            <a:ext cx="1943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Testing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44901" y="1355378"/>
            <a:ext cx="19432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comprehensive suites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78501" y="882402"/>
            <a:ext cx="2159198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578501" y="891927"/>
            <a:ext cx="2159198" cy="0"/>
          </a:xfrm>
          <a:prstGeom prst="line">
            <a:avLst/>
          </a:prstGeom>
          <a:noFill/>
          <a:ln w="19050">
            <a:solidFill>
              <a:srgbClr val="E8A5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5451" y="1002953"/>
            <a:ext cx="19434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05451" y="1174403"/>
            <a:ext cx="19434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Testing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05451" y="1355378"/>
            <a:ext cx="19434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APIs with AI assistance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17950" y="1672679"/>
            <a:ext cx="2159050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317950" y="1682204"/>
            <a:ext cx="2159050" cy="0"/>
          </a:xfrm>
          <a:prstGeom prst="line">
            <a:avLst/>
          </a:prstGeom>
          <a:noFill/>
          <a:ln w="19050">
            <a:solidFill>
              <a:srgbClr val="E8A5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44901" y="1793230"/>
            <a:ext cx="1943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44901" y="1964680"/>
            <a:ext cx="1943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Testing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44901" y="2145655"/>
            <a:ext cx="19432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Analyzing app performance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578501" y="1672679"/>
            <a:ext cx="2159198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578501" y="1682204"/>
            <a:ext cx="2159198" cy="0"/>
          </a:xfrm>
          <a:prstGeom prst="line">
            <a:avLst/>
          </a:prstGeom>
          <a:noFill/>
          <a:ln w="19050">
            <a:solidFill>
              <a:srgbClr val="E8A5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05451" y="1793230"/>
            <a:ext cx="19434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05451" y="1964680"/>
            <a:ext cx="19434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Documentation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05451" y="2145655"/>
            <a:ext cx="19434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bug reporting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317950" y="2564457"/>
            <a:ext cx="4419749" cy="558701"/>
          </a:xfrm>
          <a:prstGeom prst="roundRect">
            <a:avLst>
              <a:gd name="adj" fmla="val 11366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444901" y="2691408"/>
            <a:ext cx="42491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44901" y="2862858"/>
            <a:ext cx="42491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suite with API tests and quality reports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9252"/>
          </a:xfrm>
          <a:prstGeom prst="rect">
            <a:avLst/>
          </a:prstGeom>
          <a:solidFill>
            <a:srgbClr val="E8A5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00025"/>
            <a:ext cx="789384" cy="279202"/>
          </a:xfrm>
          <a:prstGeom prst="roundRect">
            <a:avLst>
              <a:gd name="adj" fmla="val 181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251" y="263426"/>
            <a:ext cx="5461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3386" y="177701"/>
            <a:ext cx="407459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Testing Techniques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06301" y="882402"/>
            <a:ext cx="3683050" cy="1478905"/>
          </a:xfrm>
          <a:prstGeom prst="roundRect">
            <a:avLst>
              <a:gd name="adj" fmla="val 51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002" y="1060103"/>
            <a:ext cx="33942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4002" y="1358503"/>
            <a:ext cx="3327648" cy="76170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E2E test orchestration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visual regression testing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and refactor test suites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 and fix flaky tests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6301" y="2513707"/>
            <a:ext cx="3683050" cy="625376"/>
          </a:xfrm>
          <a:prstGeom prst="roundRect">
            <a:avLst>
              <a:gd name="adj" fmla="val 12185"/>
            </a:avLst>
          </a:prstGeom>
          <a:solidFill>
            <a:srgbClr val="E8A5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84002" y="2640657"/>
            <a:ext cx="33942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002" y="2869257"/>
            <a:ext cx="33942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Playwright, Claude Code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17950" y="882402"/>
            <a:ext cx="2159050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317950" y="891927"/>
            <a:ext cx="2159050" cy="0"/>
          </a:xfrm>
          <a:prstGeom prst="line">
            <a:avLst/>
          </a:prstGeom>
          <a:noFill/>
          <a:ln w="19050">
            <a:solidFill>
              <a:srgbClr val="E8A5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4901" y="1002953"/>
            <a:ext cx="1943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44901" y="1174403"/>
            <a:ext cx="1943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Test Orchestration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44901" y="1355378"/>
            <a:ext cx="19432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test workflows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78501" y="882402"/>
            <a:ext cx="2159198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578501" y="891927"/>
            <a:ext cx="2159198" cy="0"/>
          </a:xfrm>
          <a:prstGeom prst="line">
            <a:avLst/>
          </a:prstGeom>
          <a:noFill/>
          <a:ln w="19050">
            <a:solidFill>
              <a:srgbClr val="E8A5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5451" y="1002953"/>
            <a:ext cx="19434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05451" y="1174403"/>
            <a:ext cx="19434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Regression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05451" y="1355378"/>
            <a:ext cx="19434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Catching visual changes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17950" y="1672679"/>
            <a:ext cx="2159050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317950" y="1682204"/>
            <a:ext cx="2159050" cy="0"/>
          </a:xfrm>
          <a:prstGeom prst="line">
            <a:avLst/>
          </a:prstGeom>
          <a:noFill/>
          <a:ln w="19050">
            <a:solidFill>
              <a:srgbClr val="E8A5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44901" y="1793230"/>
            <a:ext cx="1943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44901" y="1964680"/>
            <a:ext cx="1943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Maintenance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44901" y="2145655"/>
            <a:ext cx="19432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tests healthy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578501" y="1672679"/>
            <a:ext cx="2159198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578501" y="1682204"/>
            <a:ext cx="2159198" cy="0"/>
          </a:xfrm>
          <a:prstGeom prst="line">
            <a:avLst/>
          </a:prstGeom>
          <a:noFill/>
          <a:ln w="19050">
            <a:solidFill>
              <a:srgbClr val="E8A5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05451" y="1793230"/>
            <a:ext cx="19434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05451" y="1964680"/>
            <a:ext cx="19434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Flaky Test Diagnosis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05451" y="2145655"/>
            <a:ext cx="19434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and fixing instability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317950" y="2564457"/>
            <a:ext cx="4419749" cy="558701"/>
          </a:xfrm>
          <a:prstGeom prst="roundRect">
            <a:avLst>
              <a:gd name="adj" fmla="val 11366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444901" y="2691408"/>
            <a:ext cx="42491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44901" y="2862858"/>
            <a:ext cx="42491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E2E suite with visual regression tests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9252"/>
          </a:xfrm>
          <a:prstGeom prst="rect">
            <a:avLst/>
          </a:prstGeom>
          <a:solidFill>
            <a:srgbClr val="E8A5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00025"/>
            <a:ext cx="789384" cy="279202"/>
          </a:xfrm>
          <a:prstGeom prst="roundRect">
            <a:avLst>
              <a:gd name="adj" fmla="val 181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251" y="263426"/>
            <a:ext cx="5461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3386" y="177701"/>
            <a:ext cx="416886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Integration &amp; Collaboration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06301" y="882402"/>
            <a:ext cx="3683050" cy="1478905"/>
          </a:xfrm>
          <a:prstGeom prst="roundRect">
            <a:avLst>
              <a:gd name="adj" fmla="val 51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002" y="1060103"/>
            <a:ext cx="33942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4002" y="1358503"/>
            <a:ext cx="3327648" cy="76170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 with developers on testability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testing into CI/CD pipelines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quality metrics dashboards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Evangelize test automation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6301" y="2513707"/>
            <a:ext cx="3683050" cy="625376"/>
          </a:xfrm>
          <a:prstGeom prst="roundRect">
            <a:avLst>
              <a:gd name="adj" fmla="val 12185"/>
            </a:avLst>
          </a:prstGeom>
          <a:solidFill>
            <a:srgbClr val="E8A5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84002" y="2640657"/>
            <a:ext cx="33942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002" y="2869257"/>
            <a:ext cx="33942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Codex CLI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17950" y="882402"/>
            <a:ext cx="2159050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317950" y="891927"/>
            <a:ext cx="2159050" cy="0"/>
          </a:xfrm>
          <a:prstGeom prst="line">
            <a:avLst/>
          </a:prstGeom>
          <a:noFill/>
          <a:ln w="19050">
            <a:solidFill>
              <a:srgbClr val="E8A5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4901" y="1002953"/>
            <a:ext cx="1943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44901" y="1174403"/>
            <a:ext cx="1943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Collaboration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44901" y="1355378"/>
            <a:ext cx="19432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Improving testability together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78501" y="882402"/>
            <a:ext cx="2159198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578501" y="891927"/>
            <a:ext cx="2159198" cy="0"/>
          </a:xfrm>
          <a:prstGeom prst="line">
            <a:avLst/>
          </a:prstGeom>
          <a:noFill/>
          <a:ln w="19050">
            <a:solidFill>
              <a:srgbClr val="E8A5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5451" y="1002953"/>
            <a:ext cx="19434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05451" y="1174403"/>
            <a:ext cx="19434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Integration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05451" y="1355378"/>
            <a:ext cx="19434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Automating test execution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17950" y="1672679"/>
            <a:ext cx="2159050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317950" y="1682204"/>
            <a:ext cx="2159050" cy="0"/>
          </a:xfrm>
          <a:prstGeom prst="line">
            <a:avLst/>
          </a:prstGeom>
          <a:noFill/>
          <a:ln w="19050">
            <a:solidFill>
              <a:srgbClr val="E8A5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44901" y="1793230"/>
            <a:ext cx="1943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44901" y="1964680"/>
            <a:ext cx="1943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Metrics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44901" y="2145655"/>
            <a:ext cx="19432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and reporting quality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578501" y="1672679"/>
            <a:ext cx="2159198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578501" y="1682204"/>
            <a:ext cx="2159198" cy="0"/>
          </a:xfrm>
          <a:prstGeom prst="line">
            <a:avLst/>
          </a:prstGeom>
          <a:noFill/>
          <a:ln w="19050">
            <a:solidFill>
              <a:srgbClr val="E8A5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05451" y="1793230"/>
            <a:ext cx="19434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05451" y="1964680"/>
            <a:ext cx="19434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Culture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05451" y="2145655"/>
            <a:ext cx="19434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Promoting testing practices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317950" y="2564457"/>
            <a:ext cx="4419749" cy="558701"/>
          </a:xfrm>
          <a:prstGeom prst="roundRect">
            <a:avLst>
              <a:gd name="adj" fmla="val 11366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444901" y="2691408"/>
            <a:ext cx="42491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44901" y="2862858"/>
            <a:ext cx="42491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integrated tests with quality dashboards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9252"/>
          </a:xfrm>
          <a:prstGeom prst="rect">
            <a:avLst/>
          </a:prstGeom>
          <a:solidFill>
            <a:srgbClr val="7C98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00025"/>
            <a:ext cx="789384" cy="279202"/>
          </a:xfrm>
          <a:prstGeom prst="roundRect">
            <a:avLst>
              <a:gd name="adj" fmla="val 181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251" y="263426"/>
            <a:ext cx="5461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9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3386" y="177701"/>
            <a:ext cx="217399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Agents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058299" y="234851"/>
            <a:ext cx="679400" cy="209550"/>
          </a:xfrm>
          <a:prstGeom prst="roundRect">
            <a:avLst>
              <a:gd name="adj" fmla="val 18182"/>
            </a:avLst>
          </a:prstGeom>
          <a:solidFill>
            <a:srgbClr val="5A7A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59800" y="272951"/>
            <a:ext cx="4859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6301" y="882402"/>
            <a:ext cx="3683050" cy="1685181"/>
          </a:xfrm>
          <a:prstGeom prst="roundRect">
            <a:avLst>
              <a:gd name="adj" fmla="val 452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4002" y="1060103"/>
            <a:ext cx="33942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4002" y="1358503"/>
            <a:ext cx="3327648" cy="96797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and understand Claude Agent SDK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custom tools for your agents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agent loops with context mgmt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multi-agent systems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safety guardrails and approval flows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6301" y="2719983"/>
            <a:ext cx="3683050" cy="625376"/>
          </a:xfrm>
          <a:prstGeom prst="roundRect">
            <a:avLst>
              <a:gd name="adj" fmla="val 12185"/>
            </a:avLst>
          </a:prstGeom>
          <a:solidFill>
            <a:srgbClr val="7C98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84002" y="2846933"/>
            <a:ext cx="33942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4002" y="3075533"/>
            <a:ext cx="33942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Agent SDK, Claude Code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17950" y="882402"/>
            <a:ext cx="2159050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317950" y="891927"/>
            <a:ext cx="2159050" cy="0"/>
          </a:xfrm>
          <a:prstGeom prst="line">
            <a:avLst/>
          </a:prstGeom>
          <a:noFill/>
          <a:ln w="19050">
            <a:solidFill>
              <a:srgbClr val="7C98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4901" y="1002953"/>
            <a:ext cx="1943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C9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44901" y="1174403"/>
            <a:ext cx="1943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SDK Setup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44901" y="1355378"/>
            <a:ext cx="19432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Installing and understanding architecture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78501" y="882402"/>
            <a:ext cx="2159198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578501" y="891927"/>
            <a:ext cx="2159198" cy="0"/>
          </a:xfrm>
          <a:prstGeom prst="line">
            <a:avLst/>
          </a:prstGeom>
          <a:noFill/>
          <a:ln w="19050">
            <a:solidFill>
              <a:srgbClr val="7C98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5451" y="1002953"/>
            <a:ext cx="19434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C9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05451" y="1174403"/>
            <a:ext cx="19434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Tools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05451" y="1355378"/>
            <a:ext cx="19434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tools for agents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317950" y="1672679"/>
            <a:ext cx="2159050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317950" y="1682204"/>
            <a:ext cx="2159050" cy="0"/>
          </a:xfrm>
          <a:prstGeom prst="line">
            <a:avLst/>
          </a:prstGeom>
          <a:noFill/>
          <a:ln w="19050">
            <a:solidFill>
              <a:srgbClr val="7C98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44901" y="1793230"/>
            <a:ext cx="1943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C9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44901" y="1964680"/>
            <a:ext cx="1943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Loops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44901" y="2145655"/>
            <a:ext cx="19432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loops with context management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578501" y="1672679"/>
            <a:ext cx="2159198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578501" y="1682204"/>
            <a:ext cx="2159198" cy="0"/>
          </a:xfrm>
          <a:prstGeom prst="line">
            <a:avLst/>
          </a:prstGeom>
          <a:noFill/>
          <a:ln w="19050">
            <a:solidFill>
              <a:srgbClr val="7C98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05451" y="1793230"/>
            <a:ext cx="19434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C9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05451" y="1964680"/>
            <a:ext cx="19434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Systems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05451" y="2145655"/>
            <a:ext cx="19434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Orchestrating multiple agents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317950" y="2564457"/>
            <a:ext cx="4419749" cy="558701"/>
          </a:xfrm>
          <a:prstGeom prst="roundRect">
            <a:avLst>
              <a:gd name="adj" fmla="val 11366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444901" y="2691408"/>
            <a:ext cx="42491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444901" y="2862858"/>
            <a:ext cx="42491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agent with custom tools and safety guardrails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9252"/>
          </a:xfrm>
          <a:prstGeom prst="rect">
            <a:avLst/>
          </a:prstGeom>
          <a:solidFill>
            <a:srgbClr val="7C98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00025"/>
            <a:ext cx="789384" cy="279202"/>
          </a:xfrm>
          <a:prstGeom prst="roundRect">
            <a:avLst>
              <a:gd name="adj" fmla="val 181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251" y="263426"/>
            <a:ext cx="5461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9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3386" y="177701"/>
            <a:ext cx="261255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&amp; Deploy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058299" y="234851"/>
            <a:ext cx="679400" cy="209550"/>
          </a:xfrm>
          <a:prstGeom prst="roundRect">
            <a:avLst>
              <a:gd name="adj" fmla="val 18182"/>
            </a:avLst>
          </a:prstGeom>
          <a:solidFill>
            <a:srgbClr val="5A7A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59800" y="272951"/>
            <a:ext cx="4859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6301" y="882402"/>
            <a:ext cx="3683050" cy="1478905"/>
          </a:xfrm>
          <a:prstGeom prst="roundRect">
            <a:avLst>
              <a:gd name="adj" fmla="val 51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4002" y="1060103"/>
            <a:ext cx="33942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4002" y="1358503"/>
            <a:ext cx="3327648" cy="76170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CI/CD pipelines and containers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AI governance and security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capstone with agent component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 on AI-assisted development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6301" y="2513707"/>
            <a:ext cx="3683050" cy="625376"/>
          </a:xfrm>
          <a:prstGeom prst="roundRect">
            <a:avLst>
              <a:gd name="adj" fmla="val 12185"/>
            </a:avLst>
          </a:prstGeom>
          <a:solidFill>
            <a:srgbClr val="7C98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84002" y="2640657"/>
            <a:ext cx="33942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4002" y="2869257"/>
            <a:ext cx="33942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Docker, GitHub Actions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17950" y="882402"/>
            <a:ext cx="2159050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317950" y="891927"/>
            <a:ext cx="2159050" cy="0"/>
          </a:xfrm>
          <a:prstGeom prst="line">
            <a:avLst/>
          </a:prstGeom>
          <a:noFill/>
          <a:ln w="19050">
            <a:solidFill>
              <a:srgbClr val="7C98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4901" y="1002953"/>
            <a:ext cx="1943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C9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44901" y="1174403"/>
            <a:ext cx="1943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for AI Apps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44901" y="1355378"/>
            <a:ext cx="19432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integration and deployment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78501" y="882402"/>
            <a:ext cx="2159198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578501" y="891927"/>
            <a:ext cx="2159198" cy="0"/>
          </a:xfrm>
          <a:prstGeom prst="line">
            <a:avLst/>
          </a:prstGeom>
          <a:noFill/>
          <a:ln w="19050">
            <a:solidFill>
              <a:srgbClr val="7C98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5451" y="1002953"/>
            <a:ext cx="19434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C9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05451" y="1174403"/>
            <a:ext cx="19434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05451" y="1355378"/>
            <a:ext cx="19434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and orchestration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317950" y="1672679"/>
            <a:ext cx="2159050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317950" y="1682204"/>
            <a:ext cx="2159050" cy="0"/>
          </a:xfrm>
          <a:prstGeom prst="line">
            <a:avLst/>
          </a:prstGeom>
          <a:noFill/>
          <a:ln w="19050">
            <a:solidFill>
              <a:srgbClr val="7C98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44901" y="1793230"/>
            <a:ext cx="1943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C9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44901" y="1964680"/>
            <a:ext cx="1943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Governance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44901" y="2145655"/>
            <a:ext cx="19432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compliance, responsible AI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578501" y="1672679"/>
            <a:ext cx="2159198" cy="688777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578501" y="1682204"/>
            <a:ext cx="2159198" cy="0"/>
          </a:xfrm>
          <a:prstGeom prst="line">
            <a:avLst/>
          </a:prstGeom>
          <a:noFill/>
          <a:ln w="19050">
            <a:solidFill>
              <a:srgbClr val="7C98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05451" y="1793230"/>
            <a:ext cx="19434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C9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05451" y="1964680"/>
            <a:ext cx="19434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Work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05451" y="2145655"/>
            <a:ext cx="19434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capstone features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317950" y="2564457"/>
            <a:ext cx="4419749" cy="558701"/>
          </a:xfrm>
          <a:prstGeom prst="roundRect">
            <a:avLst>
              <a:gd name="adj" fmla="val 11366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444901" y="2691408"/>
            <a:ext cx="42491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8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444901" y="2862858"/>
            <a:ext cx="42491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capstone project with integrated AI agent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Learning Path</dc:title>
  <dc:subject>AI-Assisted Test Automation &amp; Quality Assurance</dc:subject>
  <dc:creator>AI CLI Tools Workshop</dc:creator>
  <cp:lastModifiedBy>AI CLI Tools Workshop</cp:lastModifiedBy>
  <cp:revision>1</cp:revision>
  <dcterms:created xsi:type="dcterms:W3CDTF">2025-12-09T07:45:30Z</dcterms:created>
  <dcterms:modified xsi:type="dcterms:W3CDTF">2025-12-09T07:45:30Z</dcterms:modified>
</cp:coreProperties>
</file>